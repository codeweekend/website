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2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498079" y="0"/>
            <a:ext cx="4693616" cy="6858000"/>
          </a:xfrm>
          <a:prstGeom prst="rect">
            <a:avLst/>
          </a:prstGeom>
          <a:solidFill>
            <a:srgbClr val="083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778240" y="1280160"/>
            <a:ext cx="2926080" cy="2926080"/>
          </a:xfrm>
          <a:prstGeom prst="roundRect">
            <a:avLst>
              <a:gd name="adj" fmla="val 50000"/>
            </a:avLst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509760" y="4206240"/>
            <a:ext cx="2011680" cy="2011680"/>
          </a:xfrm>
          <a:prstGeom prst="roundRect">
            <a:avLst>
              <a:gd name="adj" fmla="val 50000"/>
            </a:avLst>
          </a:prstGeom>
          <a:solidFill>
            <a:srgbClr val="1AA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365760"/>
            <a:ext cx="256032" cy="31750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37744"/>
            <a:ext cx="6583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BAE6FD"/>
                </a:solidFill>
                <a:latin typeface="Calibri"/>
              </a:rPr>
              <a:t>WEB &amp; AI DEVELOPMENT BOOTCAMP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237744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BB0BE"/>
                </a:solidFill>
                <a:latin typeface="Calibri"/>
              </a:rPr>
              <a:t>HOST DECK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554480"/>
            <a:ext cx="73152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BAE6FD"/>
                </a:solidFill>
                <a:latin typeface="Calibri"/>
              </a:rPr>
              <a:t>CodeWeekend</a:t>
            </a:r>
          </a:p>
          <a:p>
            <a:pPr algn="l">
              <a:spcBef>
                <a:spcPts val="800"/>
              </a:spcBef>
            </a:pPr>
            <a:r>
              <a:rPr sz="6400" b="0" i="0">
                <a:solidFill>
                  <a:srgbClr val="FFFFFF"/>
                </a:solidFill>
                <a:latin typeface="Georgia"/>
              </a:rPr>
              <a:t>Demo Day</a:t>
            </a:r>
          </a:p>
          <a:p>
            <a:pPr algn="l"/>
            <a:r>
              <a:rPr sz="6400" b="0" i="1">
                <a:solidFill>
                  <a:srgbClr val="E76F51"/>
                </a:solidFill>
                <a:latin typeface="Georgia"/>
              </a:rPr>
              <a:t>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297680"/>
            <a:ext cx="6858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CBD5E1"/>
                </a:solidFill>
                <a:latin typeface="Calibri"/>
              </a:rPr>
              <a:t>Talent. Persistence. What becomes possible when opportunity meets code.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5669280"/>
            <a:ext cx="1965960" cy="777240"/>
          </a:xfrm>
          <a:prstGeom prst="roundRect">
            <a:avLst>
              <a:gd name="adj" fmla="val 20000"/>
            </a:avLst>
          </a:prstGeom>
          <a:solidFill>
            <a:srgbClr val="0A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5779008"/>
            <a:ext cx="1691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27 Aug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BAE6FD"/>
                </a:solidFill>
                <a:latin typeface="Calibri"/>
              </a:rPr>
              <a:t>Thursday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88920" y="5669280"/>
            <a:ext cx="1965960" cy="777240"/>
          </a:xfrm>
          <a:prstGeom prst="roundRect">
            <a:avLst>
              <a:gd name="adj" fmla="val 20000"/>
            </a:avLst>
          </a:prstGeom>
          <a:solidFill>
            <a:srgbClr val="0A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26080" y="5779008"/>
            <a:ext cx="1691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7:30 PM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BAE6FD"/>
                </a:solidFill>
                <a:latin typeface="Calibri"/>
              </a:rPr>
              <a:t>AFT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937760" y="5669280"/>
            <a:ext cx="1965960" cy="777240"/>
          </a:xfrm>
          <a:prstGeom prst="roundRect">
            <a:avLst>
              <a:gd name="adj" fmla="val 20000"/>
            </a:avLst>
          </a:prstGeom>
          <a:solidFill>
            <a:srgbClr val="0A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74920" y="5779008"/>
            <a:ext cx="1691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Live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BAE6FD"/>
                </a:solidFill>
                <a:latin typeface="Calibri"/>
              </a:rPr>
              <a:t>Online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06840" y="2148840"/>
            <a:ext cx="2468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0" i="0">
                <a:solidFill>
                  <a:srgbClr val="FFFFFF"/>
                </a:solidFill>
                <a:latin typeface="Georgia"/>
              </a:rPr>
              <a:t>24</a:t>
            </a:r>
          </a:p>
          <a:p>
            <a:pPr algn="ctr">
              <a:spcBef>
                <a:spcPts val="400"/>
              </a:spcBef>
            </a:pPr>
            <a:r>
              <a:rPr sz="1200" b="1" i="0">
                <a:solidFill>
                  <a:srgbClr val="FFFFFF"/>
                </a:solidFill>
                <a:latin typeface="Calibri"/>
              </a:rPr>
              <a:t>GRADUATES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875520" y="-548640"/>
            <a:ext cx="3200400" cy="3200400"/>
          </a:xfrm>
          <a:prstGeom prst="roundRect">
            <a:avLst>
              <a:gd name="adj" fmla="val 50000"/>
            </a:avLst>
          </a:prstGeom>
          <a:solidFill>
            <a:srgbClr val="F7EF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365760"/>
            <a:ext cx="256032" cy="31750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37744"/>
            <a:ext cx="6583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C6A8C"/>
                </a:solidFill>
                <a:latin typeface="Calibri"/>
              </a:rPr>
              <a:t>WELCOME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237744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Calibri"/>
              </a:rPr>
              <a:t>OPEN THE NIGHT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28016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0E1F2C"/>
                </a:solidFill>
                <a:latin typeface="Georgia"/>
              </a:rPr>
              <a:t>Welcome — and thank you</a:t>
            </a:r>
          </a:p>
          <a:p>
            <a:pPr algn="l"/>
            <a:r>
              <a:rPr sz="4000" b="0" i="1">
                <a:solidFill>
                  <a:srgbClr val="E76F51"/>
                </a:solidFill>
                <a:latin typeface="Georgia"/>
              </a:rPr>
              <a:t>for showing up for these builders.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200400"/>
            <a:ext cx="3520440" cy="2377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3200400"/>
            <a:ext cx="3520440" cy="76200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3200400"/>
            <a:ext cx="63500" cy="2377440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520440"/>
            <a:ext cx="3017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76F51"/>
                </a:solidFill>
                <a:latin typeface="Calibri"/>
              </a:rPr>
              <a:t>01</a:t>
            </a:r>
          </a:p>
          <a:p>
            <a:pPr algn="l">
              <a:spcBef>
                <a:spcPts val="1000"/>
              </a:spcBef>
            </a:pPr>
            <a:r>
              <a:rPr sz="2000" b="1" i="0">
                <a:solidFill>
                  <a:srgbClr val="0E1F2C"/>
                </a:solidFill>
                <a:latin typeface="Georgia"/>
              </a:rPr>
              <a:t>Mentors &amp; partners</a:t>
            </a:r>
          </a:p>
          <a:p>
            <a:pPr algn="l">
              <a:spcBef>
                <a:spcPts val="1000"/>
              </a:spcBef>
            </a:pPr>
            <a:r>
              <a:rPr sz="1400" b="0" i="0">
                <a:solidFill>
                  <a:srgbClr val="64748B"/>
                </a:solidFill>
                <a:latin typeface="Calibri"/>
              </a:rPr>
              <a:t>You helped make this learning possible.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19" y="3200400"/>
            <a:ext cx="3520440" cy="2377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89119" y="3200400"/>
            <a:ext cx="3520440" cy="76200"/>
          </a:xfrm>
          <a:prstGeom prst="rect">
            <a:avLst/>
          </a:prstGeom>
          <a:solidFill>
            <a:srgbClr val="1AA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89119" y="3200400"/>
            <a:ext cx="63500" cy="2377440"/>
          </a:xfrm>
          <a:prstGeom prst="rect">
            <a:avLst/>
          </a:prstGeom>
          <a:solidFill>
            <a:srgbClr val="1AA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63439" y="3520440"/>
            <a:ext cx="3017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76F51"/>
                </a:solidFill>
                <a:latin typeface="Calibri"/>
              </a:rPr>
              <a:t>02</a:t>
            </a:r>
          </a:p>
          <a:p>
            <a:pPr algn="l">
              <a:spcBef>
                <a:spcPts val="1000"/>
              </a:spcBef>
            </a:pPr>
            <a:r>
              <a:rPr sz="2000" b="1" i="0">
                <a:solidFill>
                  <a:srgbClr val="0E1F2C"/>
                </a:solidFill>
                <a:latin typeface="Georgia"/>
              </a:rPr>
              <a:t>Guests &amp; employers</a:t>
            </a:r>
          </a:p>
          <a:p>
            <a:pPr algn="l">
              <a:spcBef>
                <a:spcPts val="1000"/>
              </a:spcBef>
            </a:pPr>
            <a:r>
              <a:rPr sz="1400" b="0" i="0">
                <a:solidFill>
                  <a:srgbClr val="64748B"/>
                </a:solidFill>
                <a:latin typeface="Calibri"/>
              </a:rPr>
              <a:t>You’re meeting the next wave of talent.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58" y="3200400"/>
            <a:ext cx="3520440" cy="2377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38158" y="3200400"/>
            <a:ext cx="3520440" cy="76200"/>
          </a:xfrm>
          <a:prstGeom prst="rect">
            <a:avLst/>
          </a:prstGeom>
          <a:solidFill>
            <a:srgbClr val="083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38158" y="3200400"/>
            <a:ext cx="63500" cy="2377440"/>
          </a:xfrm>
          <a:prstGeom prst="rect">
            <a:avLst/>
          </a:prstGeom>
          <a:solidFill>
            <a:srgbClr val="083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78" y="3520440"/>
            <a:ext cx="3017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76F51"/>
                </a:solidFill>
                <a:latin typeface="Calibri"/>
              </a:rPr>
              <a:t>03</a:t>
            </a:r>
          </a:p>
          <a:p>
            <a:pPr algn="l">
              <a:spcBef>
                <a:spcPts val="1000"/>
              </a:spcBef>
            </a:pPr>
            <a:r>
              <a:rPr sz="2000" b="1" i="0">
                <a:solidFill>
                  <a:srgbClr val="0E1F2C"/>
                </a:solidFill>
                <a:latin typeface="Georgia"/>
              </a:rPr>
              <a:t>Friends &amp; families</a:t>
            </a:r>
          </a:p>
          <a:p>
            <a:pPr algn="l">
              <a:spcBef>
                <a:spcPts val="1000"/>
              </a:spcBef>
            </a:pPr>
            <a:r>
              <a:rPr sz="1400" b="0" i="0">
                <a:solidFill>
                  <a:srgbClr val="64748B"/>
                </a:solidFill>
                <a:latin typeface="Calibri"/>
              </a:rPr>
              <a:t>You’re celebrating courage and craft.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3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365760"/>
            <a:ext cx="256032" cy="31750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37744"/>
            <a:ext cx="6583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BAE6FD"/>
                </a:solidFill>
                <a:latin typeface="Calibri"/>
              </a:rPr>
              <a:t>THE PROGRAMME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237744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BB0BE"/>
                </a:solidFill>
                <a:latin typeface="Calibri"/>
              </a:rPr>
              <a:t>FOUR BEATS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9601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FFFFFF"/>
                </a:solidFill>
                <a:latin typeface="Georgia"/>
              </a:rPr>
              <a:t>How tonight moves.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103120"/>
            <a:ext cx="2743200" cy="3931920"/>
          </a:xfrm>
          <a:prstGeom prst="roundRect">
            <a:avLst>
              <a:gd name="adj" fmla="val 10000"/>
            </a:avLst>
          </a:prstGeom>
          <a:solidFill>
            <a:srgbClr val="0A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2103120"/>
            <a:ext cx="2743200" cy="109728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468880"/>
            <a:ext cx="2286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76F51"/>
                </a:solidFill>
                <a:latin typeface="Georgia"/>
              </a:rPr>
              <a:t>01</a:t>
            </a:r>
          </a:p>
          <a:p>
            <a:pPr algn="l">
              <a:spcBef>
                <a:spcPts val="1800"/>
              </a:spcBef>
            </a:pPr>
            <a:r>
              <a:rPr sz="2400" b="1" i="0">
                <a:solidFill>
                  <a:srgbClr val="FFFFFF"/>
                </a:solidFill>
                <a:latin typeface="Georgia"/>
              </a:rPr>
              <a:t>Live demos</a:t>
            </a:r>
          </a:p>
          <a:p>
            <a:pPr algn="l">
              <a:spcBef>
                <a:spcPts val="1600"/>
              </a:spcBef>
            </a:pPr>
            <a:r>
              <a:rPr sz="1400" b="0" i="0">
                <a:solidFill>
                  <a:srgbClr val="CBD5E1"/>
                </a:solidFill>
                <a:latin typeface="Calibri"/>
              </a:rPr>
              <a:t>20+ graduates share Web &amp; AI projects — then take questions.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83280" y="2103120"/>
            <a:ext cx="2743200" cy="3931920"/>
          </a:xfrm>
          <a:prstGeom prst="roundRect">
            <a:avLst>
              <a:gd name="adj" fmla="val 10000"/>
            </a:avLst>
          </a:prstGeom>
          <a:solidFill>
            <a:srgbClr val="0A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83280" y="2103120"/>
            <a:ext cx="2743200" cy="109728"/>
          </a:xfrm>
          <a:prstGeom prst="rect">
            <a:avLst/>
          </a:prstGeom>
          <a:solidFill>
            <a:srgbClr val="1AA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11880" y="2468880"/>
            <a:ext cx="2286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AEDC"/>
                </a:solidFill>
                <a:latin typeface="Georgia"/>
              </a:rPr>
              <a:t>02</a:t>
            </a:r>
          </a:p>
          <a:p>
            <a:pPr algn="l">
              <a:spcBef>
                <a:spcPts val="1800"/>
              </a:spcBef>
            </a:pPr>
            <a:r>
              <a:rPr sz="2400" b="1" i="0">
                <a:solidFill>
                  <a:srgbClr val="FFFFFF"/>
                </a:solidFill>
                <a:latin typeface="Georgia"/>
              </a:rPr>
              <a:t>Audience Choice</a:t>
            </a:r>
          </a:p>
          <a:p>
            <a:pPr algn="l">
              <a:spcBef>
                <a:spcPts val="1600"/>
              </a:spcBef>
            </a:pPr>
            <a:r>
              <a:rPr sz="1400" b="0" i="0">
                <a:solidFill>
                  <a:srgbClr val="CBD5E1"/>
                </a:solidFill>
                <a:latin typeface="Calibri"/>
              </a:rPr>
              <a:t>You vote across five awards that honor craft and impact.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2103120"/>
            <a:ext cx="2743200" cy="3931920"/>
          </a:xfrm>
          <a:prstGeom prst="roundRect">
            <a:avLst>
              <a:gd name="adj" fmla="val 10000"/>
            </a:avLst>
          </a:prstGeom>
          <a:solidFill>
            <a:srgbClr val="0A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63640" y="2103120"/>
            <a:ext cx="2743200" cy="109728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2468880"/>
            <a:ext cx="2286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4A261"/>
                </a:solidFill>
                <a:latin typeface="Georgia"/>
              </a:rPr>
              <a:t>03</a:t>
            </a:r>
          </a:p>
          <a:p>
            <a:pPr algn="l">
              <a:spcBef>
                <a:spcPts val="1800"/>
              </a:spcBef>
            </a:pPr>
            <a:r>
              <a:rPr sz="2400" b="1" i="0">
                <a:solidFill>
                  <a:srgbClr val="FFFFFF"/>
                </a:solidFill>
                <a:latin typeface="Georgia"/>
              </a:rPr>
              <a:t>Awards</a:t>
            </a:r>
          </a:p>
          <a:p>
            <a:pPr algn="l">
              <a:spcBef>
                <a:spcPts val="1600"/>
              </a:spcBef>
            </a:pPr>
            <a:r>
              <a:rPr sz="1400" b="0" i="0">
                <a:solidFill>
                  <a:srgbClr val="CBD5E1"/>
                </a:solidFill>
                <a:latin typeface="Calibri"/>
              </a:rPr>
              <a:t>We celebrate the work, the growth, and the room.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0" y="2103120"/>
            <a:ext cx="2743200" cy="3931920"/>
          </a:xfrm>
          <a:prstGeom prst="roundRect">
            <a:avLst>
              <a:gd name="adj" fmla="val 10000"/>
            </a:avLst>
          </a:prstGeom>
          <a:solidFill>
            <a:srgbClr val="0A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144000" y="2103120"/>
            <a:ext cx="2743200" cy="109728"/>
          </a:xfrm>
          <a:prstGeom prst="rect">
            <a:avLst/>
          </a:prstGeom>
          <a:solidFill>
            <a:srgbClr val="BAE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72600" y="2468880"/>
            <a:ext cx="2286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BAE6FD"/>
                </a:solidFill>
                <a:latin typeface="Georgia"/>
              </a:rPr>
              <a:t>04</a:t>
            </a:r>
          </a:p>
          <a:p>
            <a:pPr algn="l">
              <a:spcBef>
                <a:spcPts val="1800"/>
              </a:spcBef>
            </a:pPr>
            <a:r>
              <a:rPr sz="2400" b="1" i="0">
                <a:solidFill>
                  <a:srgbClr val="FFFFFF"/>
                </a:solidFill>
                <a:latin typeface="Georgia"/>
              </a:rPr>
              <a:t>Networking</a:t>
            </a:r>
          </a:p>
          <a:p>
            <a:pPr algn="l">
              <a:spcBef>
                <a:spcPts val="1600"/>
              </a:spcBef>
            </a:pPr>
            <a:r>
              <a:rPr sz="1400" b="0" i="0">
                <a:solidFill>
                  <a:srgbClr val="CBD5E1"/>
                </a:solidFill>
                <a:latin typeface="Calibri"/>
              </a:rPr>
              <a:t>Meet builders, mentors, and partners in breakout rooms.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965960"/>
          </a:xfrm>
          <a:prstGeom prst="rect">
            <a:avLst/>
          </a:prstGeom>
          <a:solidFill>
            <a:srgbClr val="083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1965960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365760"/>
            <a:ext cx="256032" cy="31750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37744"/>
            <a:ext cx="6583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BAE6FD"/>
                </a:solidFill>
                <a:latin typeface="Calibri"/>
              </a:rPr>
              <a:t>AUDIENCE CHOICE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237744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BB0BE"/>
                </a:solidFill>
                <a:latin typeface="Calibri"/>
              </a:rPr>
              <a:t>FIVE AWARDS · ONE VOTE SET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77724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Georgia"/>
              </a:rPr>
              <a:t>Vote for the work that moved you.</a:t>
            </a:r>
          </a:p>
          <a:p>
            <a:pPr algn="l">
              <a:spcBef>
                <a:spcPts val="600"/>
              </a:spcBef>
            </a:pPr>
            <a:r>
              <a:rPr sz="1500" b="0" i="0">
                <a:solidFill>
                  <a:srgbClr val="BAE6FD"/>
                </a:solidFill>
                <a:latin typeface="Calibri"/>
              </a:rPr>
              <a:t>Watch every demo with these five awards in mind.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2194560"/>
            <a:ext cx="11338560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2194560"/>
            <a:ext cx="101600" cy="1325880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331720"/>
            <a:ext cx="914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E76F51"/>
                </a:solidFill>
                <a:latin typeface="Georgia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2331720"/>
            <a:ext cx="6858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E1F2C"/>
                </a:solidFill>
                <a:latin typeface="Georgia"/>
              </a:rPr>
              <a:t>Best Overall Project — Audience Choice</a:t>
            </a:r>
          </a:p>
          <a:p>
            <a:pPr algn="l">
              <a:spcBef>
                <a:spcPts val="600"/>
              </a:spcBef>
            </a:pPr>
            <a:r>
              <a:rPr sz="1400" b="1" i="0">
                <a:solidFill>
                  <a:srgbClr val="083B5A"/>
                </a:solidFill>
                <a:latin typeface="Calibri"/>
              </a:rPr>
              <a:t>Which project deserves Best Overall?</a:t>
            </a:r>
          </a:p>
          <a:p>
            <a:pPr algn="l">
              <a:spcBef>
                <a:spcPts val="400"/>
              </a:spcBef>
            </a:pPr>
            <a:r>
              <a:rPr sz="1200" b="0" i="0">
                <a:solidFill>
                  <a:srgbClr val="64748B"/>
                </a:solidFill>
                <a:latin typeface="Calibri"/>
              </a:rPr>
              <a:t>Problem · idea · execution · usefulness · craft · presentation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0" y="2514600"/>
            <a:ext cx="2286000" cy="640080"/>
          </a:xfrm>
          <a:prstGeom prst="roundRect">
            <a:avLst>
              <a:gd name="adj" fmla="val 25000"/>
            </a:avLst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0" y="26517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YOUR MAIN AWARD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3749039"/>
            <a:ext cx="2788920" cy="26974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BE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11480" y="3749039"/>
            <a:ext cx="2788920" cy="76200"/>
          </a:xfrm>
          <a:prstGeom prst="rect">
            <a:avLst/>
          </a:prstGeom>
          <a:solidFill>
            <a:srgbClr val="1AA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3977639"/>
            <a:ext cx="2423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76F51"/>
                </a:solidFill>
                <a:latin typeface="Calibri"/>
              </a:rPr>
              <a:t>02</a:t>
            </a:r>
          </a:p>
          <a:p>
            <a:pPr algn="l">
              <a:spcBef>
                <a:spcPts val="800"/>
              </a:spcBef>
            </a:pPr>
            <a:r>
              <a:rPr sz="1600" b="1" i="0">
                <a:solidFill>
                  <a:srgbClr val="0E1F2C"/>
                </a:solidFill>
                <a:latin typeface="Georgia"/>
              </a:rPr>
              <a:t>Most Innovative</a:t>
            </a:r>
          </a:p>
          <a:p>
            <a:pPr algn="l">
              <a:spcBef>
                <a:spcPts val="1200"/>
              </a:spcBef>
            </a:pPr>
            <a:r>
              <a:rPr sz="1200" b="1" i="0">
                <a:solidFill>
                  <a:srgbClr val="083B5A"/>
                </a:solidFill>
                <a:latin typeface="Calibri"/>
              </a:rPr>
              <a:t>Most original idea?</a:t>
            </a:r>
          </a:p>
          <a:p>
            <a:pPr algn="l">
              <a:spcBef>
                <a:spcPts val="800"/>
              </a:spcBef>
            </a:pPr>
            <a:r>
              <a:rPr sz="1100" b="0" i="0">
                <a:solidFill>
                  <a:srgbClr val="64748B"/>
                </a:solidFill>
                <a:latin typeface="Calibri"/>
              </a:rPr>
              <a:t>Creativity and a fresh approach to the problem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319272" y="3749039"/>
            <a:ext cx="2788920" cy="26974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BE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319272" y="3749039"/>
            <a:ext cx="2788920" cy="76200"/>
          </a:xfrm>
          <a:prstGeom prst="rect">
            <a:avLst/>
          </a:prstGeom>
          <a:solidFill>
            <a:srgbClr val="1AA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02152" y="3977639"/>
            <a:ext cx="2423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76F51"/>
                </a:solidFill>
                <a:latin typeface="Calibri"/>
              </a:rPr>
              <a:t>03</a:t>
            </a:r>
          </a:p>
          <a:p>
            <a:pPr algn="l">
              <a:spcBef>
                <a:spcPts val="800"/>
              </a:spcBef>
            </a:pPr>
            <a:r>
              <a:rPr sz="1600" b="1" i="0">
                <a:solidFill>
                  <a:srgbClr val="0E1F2C"/>
                </a:solidFill>
                <a:latin typeface="Georgia"/>
              </a:rPr>
              <a:t>Best Technical Execution</a:t>
            </a:r>
          </a:p>
          <a:p>
            <a:pPr algn="l">
              <a:spcBef>
                <a:spcPts val="1200"/>
              </a:spcBef>
            </a:pPr>
            <a:r>
              <a:rPr sz="1200" b="1" i="0">
                <a:solidFill>
                  <a:srgbClr val="083B5A"/>
                </a:solidFill>
                <a:latin typeface="Calibri"/>
              </a:rPr>
              <a:t>Strongest technical build?</a:t>
            </a:r>
          </a:p>
          <a:p>
            <a:pPr algn="l">
              <a:spcBef>
                <a:spcPts val="800"/>
              </a:spcBef>
            </a:pPr>
            <a:r>
              <a:rPr sz="1100" b="0" i="0">
                <a:solidFill>
                  <a:srgbClr val="64748B"/>
                </a:solidFill>
                <a:latin typeface="Calibri"/>
              </a:rPr>
              <a:t>Functionality, quality, and technology used well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27064" y="3749039"/>
            <a:ext cx="2788920" cy="26974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BE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27064" y="3749039"/>
            <a:ext cx="2788920" cy="76200"/>
          </a:xfrm>
          <a:prstGeom prst="rect">
            <a:avLst/>
          </a:prstGeom>
          <a:solidFill>
            <a:srgbClr val="1AA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9944" y="3977639"/>
            <a:ext cx="2423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76F51"/>
                </a:solidFill>
                <a:latin typeface="Calibri"/>
              </a:rPr>
              <a:t>04</a:t>
            </a:r>
          </a:p>
          <a:p>
            <a:pPr algn="l">
              <a:spcBef>
                <a:spcPts val="800"/>
              </a:spcBef>
            </a:pPr>
            <a:r>
              <a:rPr sz="1600" b="1" i="0">
                <a:solidFill>
                  <a:srgbClr val="0E1F2C"/>
                </a:solidFill>
                <a:latin typeface="Georgia"/>
              </a:rPr>
              <a:t>Best UX &amp; Design</a:t>
            </a:r>
          </a:p>
          <a:p>
            <a:pPr algn="l">
              <a:spcBef>
                <a:spcPts val="1200"/>
              </a:spcBef>
            </a:pPr>
            <a:r>
              <a:rPr sz="1200" b="1" i="0">
                <a:solidFill>
                  <a:srgbClr val="083B5A"/>
                </a:solidFill>
                <a:latin typeface="Calibri"/>
              </a:rPr>
              <a:t>Best experience &amp; design?</a:t>
            </a:r>
          </a:p>
          <a:p>
            <a:pPr algn="l">
              <a:spcBef>
                <a:spcPts val="800"/>
              </a:spcBef>
            </a:pPr>
            <a:r>
              <a:rPr sz="1100" b="0" i="0">
                <a:solidFill>
                  <a:srgbClr val="64748B"/>
                </a:solidFill>
                <a:latin typeface="Calibri"/>
              </a:rPr>
              <a:t>Usability, clarity, visuals, thoughtful craft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34856" y="3749039"/>
            <a:ext cx="2788920" cy="26974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BE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134856" y="3749039"/>
            <a:ext cx="2788920" cy="76200"/>
          </a:xfrm>
          <a:prstGeom prst="rect">
            <a:avLst/>
          </a:prstGeom>
          <a:solidFill>
            <a:srgbClr val="1AA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17736" y="3977639"/>
            <a:ext cx="2423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76F51"/>
                </a:solidFill>
                <a:latin typeface="Calibri"/>
              </a:rPr>
              <a:t>05</a:t>
            </a:r>
          </a:p>
          <a:p>
            <a:pPr algn="l">
              <a:spcBef>
                <a:spcPts val="800"/>
              </a:spcBef>
            </a:pPr>
            <a:r>
              <a:rPr sz="1600" b="1" i="0">
                <a:solidFill>
                  <a:srgbClr val="0E1F2C"/>
                </a:solidFill>
                <a:latin typeface="Georgia"/>
              </a:rPr>
              <a:t>Best Real-World Impact</a:t>
            </a:r>
          </a:p>
          <a:p>
            <a:pPr algn="l">
              <a:spcBef>
                <a:spcPts val="1200"/>
              </a:spcBef>
            </a:pPr>
            <a:r>
              <a:rPr sz="1200" b="1" i="0">
                <a:solidFill>
                  <a:srgbClr val="083B5A"/>
                </a:solidFill>
                <a:latin typeface="Calibri"/>
              </a:rPr>
              <a:t>Strongest real-world potential?</a:t>
            </a:r>
          </a:p>
          <a:p>
            <a:pPr algn="l">
              <a:spcBef>
                <a:spcPts val="800"/>
              </a:spcBef>
            </a:pPr>
            <a:r>
              <a:rPr sz="1100" b="0" i="0">
                <a:solidFill>
                  <a:srgbClr val="64748B"/>
                </a:solidFill>
                <a:latin typeface="Calibri"/>
              </a:rPr>
              <a:t>Who benefits — and what happens after Demo Day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83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8016" cy="868680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201168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  <a:latin typeface="Georgia"/>
              </a:rPr>
              <a:t>Tonight’s projects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32004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BAE6FD"/>
                </a:solidFill>
                <a:latin typeface="Calibri"/>
              </a:rPr>
              <a:t>24 · DROP SCREENSHOTS 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6032" y="1005840"/>
            <a:ext cx="1870405" cy="13670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BE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Screenshot — Asma Mehraban" descr="screenshot-mockup-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752" y="1051560"/>
            <a:ext cx="1778965" cy="84755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10896" y="1889973"/>
            <a:ext cx="1760677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83B5A"/>
                </a:solidFill>
                <a:latin typeface="Calibri"/>
              </a:rPr>
              <a:t>Asma Mehraban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" y="2054565"/>
            <a:ext cx="176067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E1F2C"/>
                </a:solidFill>
                <a:latin typeface="Georgia"/>
              </a:rPr>
              <a:t>PostPlanner-AI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217877" y="1005840"/>
            <a:ext cx="1870405" cy="13670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BE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Screenshot — Asma Samadi" descr="screenshot-mockup-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3597" y="1051560"/>
            <a:ext cx="1778965" cy="847557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272741" y="1889973"/>
            <a:ext cx="1760677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83B5A"/>
                </a:solidFill>
                <a:latin typeface="Calibri"/>
              </a:rPr>
              <a:t>Asma Samadi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72741" y="2054565"/>
            <a:ext cx="176067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E1F2C"/>
                </a:solidFill>
                <a:latin typeface="Georgia"/>
              </a:rPr>
              <a:t>TravelGenie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79722" y="1005840"/>
            <a:ext cx="1870405" cy="13670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BE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Screenshot — Basira Mehrzad" descr="screenshot-mockup-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5442" y="1051560"/>
            <a:ext cx="1778965" cy="847557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234586" y="1889973"/>
            <a:ext cx="1760677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83B5A"/>
                </a:solidFill>
                <a:latin typeface="Calibri"/>
              </a:rPr>
              <a:t>Basira Mehrzad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34586" y="2054565"/>
            <a:ext cx="176067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E1F2C"/>
                </a:solidFill>
                <a:latin typeface="Georgia"/>
              </a:rPr>
              <a:t>MorningFocus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41567" y="1005840"/>
            <a:ext cx="1870405" cy="13670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BE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Screenshot — Bibi Hawa Abdul Shukoor" descr="screenshot-mockup-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7287" y="1051560"/>
            <a:ext cx="1778965" cy="847557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196431" y="1889973"/>
            <a:ext cx="1760677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83B5A"/>
                </a:solidFill>
                <a:latin typeface="Calibri"/>
              </a:rPr>
              <a:t>Bibi Hawa Abdul Shukoor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96431" y="2054565"/>
            <a:ext cx="176067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E1F2C"/>
                </a:solidFill>
                <a:latin typeface="Georgia"/>
              </a:rPr>
              <a:t>DataNest AI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03412" y="1005840"/>
            <a:ext cx="1870405" cy="13670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BE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Screenshot — Bibi Mariam Abdul Shukoor" descr="screenshot-mockup-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49132" y="1051560"/>
            <a:ext cx="1778965" cy="847557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8158276" y="1889973"/>
            <a:ext cx="1760677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83B5A"/>
                </a:solidFill>
                <a:latin typeface="Calibri"/>
              </a:rPr>
              <a:t>Bibi Mariam Abdul Shukoor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58276" y="2054565"/>
            <a:ext cx="176067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E1F2C"/>
                </a:solidFill>
                <a:latin typeface="Georgia"/>
              </a:rPr>
              <a:t>CareerMatch - AI-Powered…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065257" y="1005840"/>
            <a:ext cx="1870405" cy="13670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BE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Screenshot — Bibi Zhara Abdul Shukoor" descr="screenshot-mockup-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0977" y="1051560"/>
            <a:ext cx="1778965" cy="847557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10120121" y="1889973"/>
            <a:ext cx="1760677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83B5A"/>
                </a:solidFill>
                <a:latin typeface="Calibri"/>
              </a:rPr>
              <a:t>Bibi Zhara Abdul Shukoor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120121" y="2054565"/>
            <a:ext cx="176067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E1F2C"/>
                </a:solidFill>
                <a:latin typeface="Georgia"/>
              </a:rPr>
              <a:t>HR Pilot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56032" y="2446020"/>
            <a:ext cx="1870405" cy="13670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BE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Screenshot — Fareshta Foladi" descr="screenshot-mockup-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752" y="2491740"/>
            <a:ext cx="1778965" cy="847557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310896" y="3330153"/>
            <a:ext cx="1760677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83B5A"/>
                </a:solidFill>
                <a:latin typeface="Calibri"/>
              </a:rPr>
              <a:t>Fareshta Foladi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10896" y="3494745"/>
            <a:ext cx="176067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E1F2C"/>
                </a:solidFill>
                <a:latin typeface="Georgia"/>
              </a:rPr>
              <a:t>BrainNote AI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217877" y="2446020"/>
            <a:ext cx="1870405" cy="13670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BE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Screenshot — Farzana Ebrahimi" descr="screenshot-mockup-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3597" y="2491740"/>
            <a:ext cx="1778965" cy="847557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272741" y="3330153"/>
            <a:ext cx="1760677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83B5A"/>
                </a:solidFill>
                <a:latin typeface="Calibri"/>
              </a:rPr>
              <a:t>Farzana Ebrahimi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72741" y="3494745"/>
            <a:ext cx="176067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E1F2C"/>
                </a:solidFill>
                <a:latin typeface="Georgia"/>
              </a:rPr>
              <a:t>QuickHelp AI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179722" y="2446020"/>
            <a:ext cx="1870405" cy="13670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BE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Screenshot — Hamisha Noori" descr="screenshot-mockup-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5442" y="2491740"/>
            <a:ext cx="1778965" cy="847557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4234586" y="3330153"/>
            <a:ext cx="1760677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83B5A"/>
                </a:solidFill>
                <a:latin typeface="Calibri"/>
              </a:rPr>
              <a:t>Hamisha Noori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234586" y="3494745"/>
            <a:ext cx="176067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E1F2C"/>
                </a:solidFill>
                <a:latin typeface="Georgia"/>
              </a:rPr>
              <a:t>DevTrack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141567" y="2446020"/>
            <a:ext cx="1870405" cy="13670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BE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4" name="Screenshot — Hanifa Yousufi" descr="screenshot-mockup-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7287" y="2491740"/>
            <a:ext cx="1778965" cy="847557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6196431" y="3330153"/>
            <a:ext cx="1760677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83B5A"/>
                </a:solidFill>
                <a:latin typeface="Calibri"/>
              </a:rPr>
              <a:t>Hanifa Yousufi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196431" y="3494745"/>
            <a:ext cx="176067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E1F2C"/>
                </a:solidFill>
                <a:latin typeface="Georgia"/>
              </a:rPr>
              <a:t>MindfulDiary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103412" y="2446020"/>
            <a:ext cx="1870405" cy="13670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BE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8" name="Screenshot — Jamila Waziry" descr="screenshot-mockup-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49132" y="2491740"/>
            <a:ext cx="1778965" cy="847557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8158276" y="3330153"/>
            <a:ext cx="1760677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83B5A"/>
                </a:solidFill>
                <a:latin typeface="Calibri"/>
              </a:rPr>
              <a:t>Jamila Waziry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158276" y="3494745"/>
            <a:ext cx="176067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E1F2C"/>
                </a:solidFill>
                <a:latin typeface="Georgia"/>
              </a:rPr>
              <a:t>AfghanBuddy (AI-Powered…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0065257" y="2446020"/>
            <a:ext cx="1870405" cy="13670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BE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2" name="Screenshot — Lima Rahimzai" descr="screenshot-mockup-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0977" y="2491740"/>
            <a:ext cx="1778965" cy="847557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10120121" y="3330153"/>
            <a:ext cx="1760677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83B5A"/>
                </a:solidFill>
                <a:latin typeface="Calibri"/>
              </a:rPr>
              <a:t>Lima Rahimzai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120121" y="3494745"/>
            <a:ext cx="176067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E1F2C"/>
                </a:solidFill>
                <a:latin typeface="Georgia"/>
              </a:rPr>
              <a:t>PitchPilot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256032" y="3886200"/>
            <a:ext cx="1870405" cy="13670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BE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6" name="Screenshot — Mahdia Hassani" descr="screenshot-mockup-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752" y="3931920"/>
            <a:ext cx="1778965" cy="847557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310896" y="4770333"/>
            <a:ext cx="1760677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83B5A"/>
                </a:solidFill>
                <a:latin typeface="Calibri"/>
              </a:rPr>
              <a:t>Mahdia Hassani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10896" y="4934925"/>
            <a:ext cx="176067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E1F2C"/>
                </a:solidFill>
                <a:latin typeface="Georgia"/>
              </a:rPr>
              <a:t>SafeNet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2217877" y="3886200"/>
            <a:ext cx="1870405" cy="13670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BE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0" name="Screenshot — Marwa Qadeer" descr="screenshot-mockup-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3597" y="3931920"/>
            <a:ext cx="1778965" cy="847557"/>
          </a:xfrm>
          <a:prstGeom prst="rect">
            <a:avLst/>
          </a:prstGeom>
        </p:spPr>
      </p:pic>
      <p:sp>
        <p:nvSpPr>
          <p:cNvPr id="61" name="TextBox 60"/>
          <p:cNvSpPr txBox="1"/>
          <p:nvPr/>
        </p:nvSpPr>
        <p:spPr>
          <a:xfrm>
            <a:off x="2272741" y="4770333"/>
            <a:ext cx="1760677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83B5A"/>
                </a:solidFill>
                <a:latin typeface="Calibri"/>
              </a:rPr>
              <a:t>Marwa Qadeer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272741" y="4934925"/>
            <a:ext cx="176067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E1F2C"/>
                </a:solidFill>
                <a:latin typeface="Georgia"/>
              </a:rPr>
              <a:t>GiftMatch AI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4179722" y="3886200"/>
            <a:ext cx="1870405" cy="13670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BE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4" name="Screenshot — Maryam Hamrah" descr="screenshot-mockup-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5442" y="3931920"/>
            <a:ext cx="1778965" cy="847557"/>
          </a:xfrm>
          <a:prstGeom prst="rect">
            <a:avLst/>
          </a:prstGeom>
        </p:spPr>
      </p:pic>
      <p:sp>
        <p:nvSpPr>
          <p:cNvPr id="65" name="TextBox 64"/>
          <p:cNvSpPr txBox="1"/>
          <p:nvPr/>
        </p:nvSpPr>
        <p:spPr>
          <a:xfrm>
            <a:off x="4234586" y="4770333"/>
            <a:ext cx="1760677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83B5A"/>
                </a:solidFill>
                <a:latin typeface="Calibri"/>
              </a:rPr>
              <a:t>Maryam Hamrah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34586" y="4934925"/>
            <a:ext cx="176067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E1F2C"/>
                </a:solidFill>
                <a:latin typeface="Georgia"/>
              </a:rPr>
              <a:t>Launchpad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6141567" y="3886200"/>
            <a:ext cx="1870405" cy="13670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BE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8" name="Screenshot — Maryam Moostamandy" descr="screenshot-mockup-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7287" y="3931920"/>
            <a:ext cx="1778965" cy="847557"/>
          </a:xfrm>
          <a:prstGeom prst="rect">
            <a:avLst/>
          </a:prstGeom>
        </p:spPr>
      </p:pic>
      <p:sp>
        <p:nvSpPr>
          <p:cNvPr id="69" name="TextBox 68"/>
          <p:cNvSpPr txBox="1"/>
          <p:nvPr/>
        </p:nvSpPr>
        <p:spPr>
          <a:xfrm>
            <a:off x="6196431" y="4770333"/>
            <a:ext cx="1760677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83B5A"/>
                </a:solidFill>
                <a:latin typeface="Calibri"/>
              </a:rPr>
              <a:t>Maryam Moostamandy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196431" y="4934925"/>
            <a:ext cx="176067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E1F2C"/>
                </a:solidFill>
                <a:latin typeface="Georgia"/>
              </a:rPr>
              <a:t>TidySpace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8103412" y="3886200"/>
            <a:ext cx="1870405" cy="13670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BE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2" name="Screenshot — Rahimah ANsari" descr="screenshot-mockup-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49132" y="3931920"/>
            <a:ext cx="1778965" cy="847557"/>
          </a:xfrm>
          <a:prstGeom prst="rect">
            <a:avLst/>
          </a:prstGeom>
        </p:spPr>
      </p:pic>
      <p:sp>
        <p:nvSpPr>
          <p:cNvPr id="73" name="TextBox 72"/>
          <p:cNvSpPr txBox="1"/>
          <p:nvPr/>
        </p:nvSpPr>
        <p:spPr>
          <a:xfrm>
            <a:off x="8158276" y="4770333"/>
            <a:ext cx="1760677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83B5A"/>
                </a:solidFill>
                <a:latin typeface="Calibri"/>
              </a:rPr>
              <a:t>Rahimah ANsari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158276" y="4934925"/>
            <a:ext cx="176067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E1F2C"/>
                </a:solidFill>
                <a:latin typeface="Georgia"/>
              </a:rPr>
              <a:t>CatchyReminders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10065257" y="3886200"/>
            <a:ext cx="1870405" cy="13670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BE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6" name="Screenshot — Roqia stanikzai" descr="screenshot-mockup-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0977" y="3931920"/>
            <a:ext cx="1778965" cy="847557"/>
          </a:xfrm>
          <a:prstGeom prst="rect">
            <a:avLst/>
          </a:prstGeom>
        </p:spPr>
      </p:pic>
      <p:sp>
        <p:nvSpPr>
          <p:cNvPr id="77" name="TextBox 76"/>
          <p:cNvSpPr txBox="1"/>
          <p:nvPr/>
        </p:nvSpPr>
        <p:spPr>
          <a:xfrm>
            <a:off x="10120121" y="4770333"/>
            <a:ext cx="1760677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83B5A"/>
                </a:solidFill>
                <a:latin typeface="Calibri"/>
              </a:rPr>
              <a:t>Roqia stanikzai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0120121" y="4934925"/>
            <a:ext cx="176067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E1F2C"/>
                </a:solidFill>
                <a:latin typeface="Georgia"/>
              </a:rPr>
              <a:t>AI Movie Analyzer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256032" y="5326380"/>
            <a:ext cx="1870405" cy="13670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BE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0" name="Screenshot — Samira Hakimi" descr="screenshot-mockup-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752" y="5372100"/>
            <a:ext cx="1778965" cy="847557"/>
          </a:xfrm>
          <a:prstGeom prst="rect">
            <a:avLst/>
          </a:prstGeom>
        </p:spPr>
      </p:pic>
      <p:sp>
        <p:nvSpPr>
          <p:cNvPr id="81" name="TextBox 80"/>
          <p:cNvSpPr txBox="1"/>
          <p:nvPr/>
        </p:nvSpPr>
        <p:spPr>
          <a:xfrm>
            <a:off x="310896" y="6210513"/>
            <a:ext cx="1760677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83B5A"/>
                </a:solidFill>
                <a:latin typeface="Calibri"/>
              </a:rPr>
              <a:t>Samira Hakimi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10896" y="6375105"/>
            <a:ext cx="176067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E1F2C"/>
                </a:solidFill>
                <a:latin typeface="Georgia"/>
              </a:rPr>
              <a:t>MeetMind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2217877" y="5326380"/>
            <a:ext cx="1870405" cy="13670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BE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4" name="Screenshot — Sana Waziry" descr="screenshot-mockup-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3597" y="5372100"/>
            <a:ext cx="1778965" cy="847557"/>
          </a:xfrm>
          <a:prstGeom prst="rect">
            <a:avLst/>
          </a:prstGeom>
        </p:spPr>
      </p:pic>
      <p:sp>
        <p:nvSpPr>
          <p:cNvPr id="85" name="TextBox 84"/>
          <p:cNvSpPr txBox="1"/>
          <p:nvPr/>
        </p:nvSpPr>
        <p:spPr>
          <a:xfrm>
            <a:off x="2272741" y="6210513"/>
            <a:ext cx="1760677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83B5A"/>
                </a:solidFill>
                <a:latin typeface="Calibri"/>
              </a:rPr>
              <a:t>Sana Waziry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2272741" y="6375105"/>
            <a:ext cx="176067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E1F2C"/>
                </a:solidFill>
                <a:latin typeface="Georgia"/>
              </a:rPr>
              <a:t>SmartReceipt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4179722" y="5326380"/>
            <a:ext cx="1870405" cy="13670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BE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8" name="Screenshot — Shabnam Ahmadi" descr="screenshot-mockup-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5442" y="5372100"/>
            <a:ext cx="1778965" cy="847557"/>
          </a:xfrm>
          <a:prstGeom prst="rect">
            <a:avLst/>
          </a:prstGeom>
        </p:spPr>
      </p:pic>
      <p:sp>
        <p:nvSpPr>
          <p:cNvPr id="89" name="TextBox 88"/>
          <p:cNvSpPr txBox="1"/>
          <p:nvPr/>
        </p:nvSpPr>
        <p:spPr>
          <a:xfrm>
            <a:off x="4234586" y="6210513"/>
            <a:ext cx="1760677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83B5A"/>
                </a:solidFill>
                <a:latin typeface="Calibri"/>
              </a:rPr>
              <a:t>Shabnam Ahmadi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234586" y="6375105"/>
            <a:ext cx="176067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E1F2C"/>
                </a:solidFill>
                <a:latin typeface="Georgia"/>
              </a:rPr>
              <a:t>Emoji Translator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6141567" y="5326380"/>
            <a:ext cx="1870405" cy="13670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BE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2" name="Screenshot — Sima Gulestani" descr="screenshot-mockup-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7287" y="5372100"/>
            <a:ext cx="1778965" cy="847557"/>
          </a:xfrm>
          <a:prstGeom prst="rect">
            <a:avLst/>
          </a:prstGeom>
        </p:spPr>
      </p:pic>
      <p:sp>
        <p:nvSpPr>
          <p:cNvPr id="93" name="TextBox 92"/>
          <p:cNvSpPr txBox="1"/>
          <p:nvPr/>
        </p:nvSpPr>
        <p:spPr>
          <a:xfrm>
            <a:off x="6196431" y="6210513"/>
            <a:ext cx="1760677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83B5A"/>
                </a:solidFill>
                <a:latin typeface="Calibri"/>
              </a:rPr>
              <a:t>Sima Gulestani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196431" y="6375105"/>
            <a:ext cx="176067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E1F2C"/>
                </a:solidFill>
                <a:latin typeface="Georgia"/>
              </a:rPr>
              <a:t>HireFlow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8103412" y="5326380"/>
            <a:ext cx="1870405" cy="13670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BE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6" name="Screenshot — Zahra Ahmadi" descr="screenshot-mockup-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49132" y="5372100"/>
            <a:ext cx="1778965" cy="847557"/>
          </a:xfrm>
          <a:prstGeom prst="rect">
            <a:avLst/>
          </a:prstGeom>
        </p:spPr>
      </p:pic>
      <p:sp>
        <p:nvSpPr>
          <p:cNvPr id="97" name="TextBox 96"/>
          <p:cNvSpPr txBox="1"/>
          <p:nvPr/>
        </p:nvSpPr>
        <p:spPr>
          <a:xfrm>
            <a:off x="8158276" y="6210513"/>
            <a:ext cx="1760677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83B5A"/>
                </a:solidFill>
                <a:latin typeface="Calibri"/>
              </a:rPr>
              <a:t>Zahra Ahmadi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158276" y="6375105"/>
            <a:ext cx="176067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E1F2C"/>
                </a:solidFill>
                <a:latin typeface="Georgia"/>
              </a:rPr>
              <a:t>Freela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10065257" y="5326380"/>
            <a:ext cx="1870405" cy="13670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BE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0" name="Screenshot — Zarara Kazimi" descr="screenshot-mockup-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0977" y="5372100"/>
            <a:ext cx="1778965" cy="847557"/>
          </a:xfrm>
          <a:prstGeom prst="rect">
            <a:avLst/>
          </a:prstGeom>
        </p:spPr>
      </p:pic>
      <p:sp>
        <p:nvSpPr>
          <p:cNvPr id="101" name="TextBox 100"/>
          <p:cNvSpPr txBox="1"/>
          <p:nvPr/>
        </p:nvSpPr>
        <p:spPr>
          <a:xfrm>
            <a:off x="10120121" y="6210513"/>
            <a:ext cx="1760677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83B5A"/>
                </a:solidFill>
                <a:latin typeface="Calibri"/>
              </a:rPr>
              <a:t>Zarara Kazimi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10120121" y="6375105"/>
            <a:ext cx="176067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E1F2C"/>
                </a:solidFill>
                <a:latin typeface="Georgia"/>
              </a:rPr>
              <a:t>AidLink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2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0" y="0"/>
            <a:ext cx="5333695" cy="6858000"/>
          </a:xfrm>
          <a:prstGeom prst="rect">
            <a:avLst/>
          </a:prstGeom>
          <a:solidFill>
            <a:srgbClr val="083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961120" y="1828800"/>
            <a:ext cx="2560320" cy="2560320"/>
          </a:xfrm>
          <a:prstGeom prst="roundRect">
            <a:avLst>
              <a:gd name="adj" fmla="val 50000"/>
            </a:avLst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365760"/>
            <a:ext cx="256032" cy="31750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37744"/>
            <a:ext cx="6583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BAE6FD"/>
                </a:solidFill>
                <a:latin typeface="Calibri"/>
              </a:rPr>
              <a:t>LIVE DEMOS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237744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BB0BE"/>
                </a:solidFill>
                <a:latin typeface="Calibri"/>
              </a:rPr>
              <a:t>CUE THE FIRST PROJECT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103120"/>
            <a:ext cx="7772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0" i="0">
                <a:solidFill>
                  <a:srgbClr val="FFFFFF"/>
                </a:solidFill>
                <a:latin typeface="Georgia"/>
              </a:rPr>
              <a:t>Let’s begin.</a:t>
            </a:r>
          </a:p>
          <a:p>
            <a:pPr algn="l">
              <a:spcBef>
                <a:spcPts val="1600"/>
              </a:spcBef>
            </a:pPr>
            <a:r>
              <a:rPr sz="2000" b="0" i="0">
                <a:solidFill>
                  <a:srgbClr val="CBD5E1"/>
                </a:solidFill>
                <a:latin typeface="Calibri"/>
              </a:rPr>
              <a:t>Listen for the problem, the solution, and the craft — then vote.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98280" y="265176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0" i="0">
                <a:solidFill>
                  <a:srgbClr val="FFFFFF"/>
                </a:solidFill>
                <a:latin typeface="Calibri"/>
              </a:rPr>
              <a:t>▶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